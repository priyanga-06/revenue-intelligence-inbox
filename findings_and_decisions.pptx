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defRPr sz="2800" b="1">
                <a:solidFill>
                  <a:srgbClr val="FFFFFF"/>
                </a:solidFill>
              </a:defRPr>
            </a:pPr>
            <a:r>
              <a:t>Revenue Intelligence Inbox</a:t>
            </a:r>
          </a:p>
        </p:txBody>
      </p:sp>
      <p:sp>
        <p:nvSpPr>
          <p:cNvPr id="4" name="TextBox 3"/>
          <p:cNvSpPr txBox="1"/>
          <p:nvPr/>
        </p:nvSpPr>
        <p:spPr>
          <a:xfrm>
            <a:off x="457200" y="1005840"/>
            <a:ext cx="10972800" cy="365760"/>
          </a:xfrm>
          <a:prstGeom prst="rect">
            <a:avLst/>
          </a:prstGeom>
          <a:noFill/>
        </p:spPr>
        <p:txBody>
          <a:bodyPr wrap="none">
            <a:spAutoFit/>
          </a:bodyPr>
          <a:lstStyle/>
          <a:p>
            <a:pPr>
              <a:defRPr sz="1600">
                <a:solidFill>
                  <a:srgbClr val="6C757D"/>
                </a:solidFill>
              </a:defRPr>
            </a:pPr>
            <a:r>
              <a:t>Business Problem and Product Objective</a:t>
            </a:r>
          </a:p>
        </p:txBody>
      </p:sp>
      <p:sp>
        <p:nvSpPr>
          <p:cNvPr id="5" name="TextBox 4"/>
          <p:cNvSpPr txBox="1"/>
          <p:nvPr/>
        </p:nvSpPr>
        <p:spPr>
          <a:xfrm>
            <a:off x="457200" y="1645920"/>
            <a:ext cx="5486400" cy="2286000"/>
          </a:xfrm>
          <a:prstGeom prst="rect">
            <a:avLst/>
          </a:prstGeom>
          <a:noFill/>
        </p:spPr>
        <p:txBody>
          <a:bodyPr wrap="square">
            <a:spAutoFit/>
          </a:bodyPr>
          <a:lstStyle/>
          <a:p>
            <a:pPr>
              <a:defRPr sz="1600" b="1">
                <a:solidFill>
                  <a:srgbClr val="E63946"/>
                </a:solidFill>
              </a:defRPr>
            </a:pPr>
            <a:r>
              <a:t>The Problem</a:t>
            </a:r>
          </a:p>
          <a:p>
            <a:pPr>
              <a:defRPr sz="1400">
                <a:solidFill>
                  <a:srgbClr val="333333"/>
                </a:solidFill>
              </a:defRPr>
            </a:pPr>
            <a:r>
              <a:t>Sales teams generate hundreds of call and meeting transcripts. Manual review is slow, inconsistent, and biased. Conversations with buying intent get lost. Competitor risks go unnoticed. Support issues escalate without visibility. Managers lack a single view to triage and act.</a:t>
            </a:r>
          </a:p>
        </p:txBody>
      </p:sp>
      <p:sp>
        <p:nvSpPr>
          <p:cNvPr id="6" name="TextBox 5"/>
          <p:cNvSpPr txBox="1"/>
          <p:nvPr/>
        </p:nvSpPr>
        <p:spPr>
          <a:xfrm>
            <a:off x="6400800" y="1645920"/>
            <a:ext cx="5486400" cy="2286000"/>
          </a:xfrm>
          <a:prstGeom prst="rect">
            <a:avLst/>
          </a:prstGeom>
          <a:noFill/>
        </p:spPr>
        <p:txBody>
          <a:bodyPr wrap="square">
            <a:spAutoFit/>
          </a:bodyPr>
          <a:lstStyle/>
          <a:p>
            <a:pPr>
              <a:defRPr sz="1600" b="1">
                <a:solidFill>
                  <a:srgbClr val="E63946"/>
                </a:solidFill>
              </a:defRPr>
            </a:pPr>
            <a:r>
              <a:t>The Solution</a:t>
            </a:r>
          </a:p>
          <a:p>
            <a:pPr>
              <a:defRPr sz="1400">
                <a:solidFill>
                  <a:srgbClr val="333333"/>
                </a:solidFill>
              </a:defRPr>
            </a:pPr>
            <a:r>
              <a:t>An automated, explainable inbox that ingests transcripts, routes conversations into actionable categories, surfaces evidence-linked findings, and lets managers review or override decisions. All data persists in SQLite. No paid APIs or external AI dependencies.</a:t>
            </a:r>
          </a:p>
        </p:txBody>
      </p:sp>
      <p:sp>
        <p:nvSpPr>
          <p:cNvPr id="7" name="TextBox 6"/>
          <p:cNvSpPr txBox="1"/>
          <p:nvPr/>
        </p:nvSpPr>
        <p:spPr>
          <a:xfrm>
            <a:off x="457200" y="4114800"/>
            <a:ext cx="10972800" cy="2286000"/>
          </a:xfrm>
          <a:prstGeom prst="rect">
            <a:avLst/>
          </a:prstGeom>
          <a:noFill/>
        </p:spPr>
        <p:txBody>
          <a:bodyPr wrap="square">
            <a:spAutoFit/>
          </a:bodyPr>
          <a:lstStyle/>
          <a:p>
            <a:pPr>
              <a:defRPr sz="1500" b="1">
                <a:solidFill>
                  <a:srgbClr val="E63946"/>
                </a:solidFill>
              </a:defRPr>
            </a:pPr>
            <a:r>
              <a:t>Current Dataset: 32 Synthetic Conversations</a:t>
            </a:r>
          </a:p>
          <a:p>
            <a:pPr>
              <a:defRPr sz="1300">
                <a:solidFill>
                  <a:srgbClr val="333333"/>
                </a:solidFill>
              </a:defRPr>
            </a:pPr>
            <a:r>
              <a:t>32 synthetic sales call and meeting records with varied outcomes, including competitor risk, support issues, urgent follow-ups, and ambiguous cases requiring human review.</a:t>
            </a:r>
            <a:br/>
            <a:br/>
            <a:r>
              <a:t>App Version: 1.0.0 | Stack: Streamlit + SQLite + Pandas + Plotly</a:t>
            </a:r>
            <a:br/>
            <a:r>
              <a:t>Data labeled as synthetic — never represented as actual customer findings.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defRPr sz="2800" b="1">
                <a:solidFill>
                  <a:srgbClr val="FFFFFF"/>
                </a:solidFill>
              </a:defRPr>
            </a:pPr>
            <a:r>
              <a:t>Application Architecture and Workflow</a:t>
            </a:r>
          </a:p>
        </p:txBody>
      </p:sp>
      <p:sp>
        <p:nvSpPr>
          <p:cNvPr id="4" name="TextBox 3"/>
          <p:cNvSpPr txBox="1"/>
          <p:nvPr/>
        </p:nvSpPr>
        <p:spPr>
          <a:xfrm>
            <a:off x="457200" y="1005840"/>
            <a:ext cx="10972800" cy="365760"/>
          </a:xfrm>
          <a:prstGeom prst="rect">
            <a:avLst/>
          </a:prstGeom>
          <a:noFill/>
        </p:spPr>
        <p:txBody>
          <a:bodyPr wrap="none">
            <a:spAutoFit/>
          </a:bodyPr>
          <a:lstStyle/>
          <a:p>
            <a:pPr>
              <a:defRPr sz="1600">
                <a:solidFill>
                  <a:srgbClr val="6C757D"/>
                </a:solidFill>
              </a:defRPr>
            </a:pPr>
            <a:r>
              <a:t>How conversations flow through the system</a:t>
            </a:r>
          </a:p>
        </p:txBody>
      </p:sp>
      <p:sp>
        <p:nvSpPr>
          <p:cNvPr id="5" name="TextBox 4"/>
          <p:cNvSpPr txBox="1"/>
          <p:nvPr/>
        </p:nvSpPr>
        <p:spPr>
          <a:xfrm>
            <a:off x="457200" y="1645920"/>
            <a:ext cx="10972800" cy="4572000"/>
          </a:xfrm>
          <a:prstGeom prst="rect">
            <a:avLst/>
          </a:prstGeom>
          <a:noFill/>
        </p:spPr>
        <p:txBody>
          <a:bodyPr wrap="square">
            <a:spAutoFit/>
          </a:bodyPr>
          <a:lstStyle/>
          <a:p>
            <a:pPr>
              <a:defRPr sz="1400" b="1">
                <a:solidFill>
                  <a:srgbClr val="E63946"/>
                </a:solidFill>
              </a:defRPr>
            </a:pPr>
            <a:r>
              <a:t>Workflow</a:t>
            </a:r>
          </a:p>
          <a:p>
            <a:pPr>
              <a:defRPr sz="1200">
                <a:solidFill>
                  <a:srgbClr val="333333"/>
                </a:solidFill>
              </a:defRPr>
            </a:pPr>
            <a:r>
              <a:t>1. IMPORT — CSV uploaded with validation. conversation_id is the unique key.</a:t>
            </a:r>
            <a:br/>
            <a:r>
              <a:t>   New IDs insert. Existing IDs with unchanged data skip. Changed data updates.</a:t>
            </a:r>
            <a:br/>
            <a:r>
              <a:t>   Manual overrides preserved. Re-import never increases record count.</a:t>
            </a:r>
            <a:br/>
            <a:br/>
            <a:r>
              <a:t>2. ROUTE — Deterministic engine analyzes transcript at sentence level.</a:t>
            </a:r>
            <a:br/>
            <a:r>
              <a:t>   Checks negation, scores signals, detects conflicts, extracts evidence.</a:t>
            </a:r>
            <a:br/>
            <a:r>
              <a:t>   Categories: High-intent | Pricing | Competitor | Support | Urgent | Routine | Review</a:t>
            </a:r>
            <a:br/>
            <a:br/>
            <a:r>
              <a:t>3. REVIEW — Managers see automated result + evidence + confidence.</a:t>
            </a:r>
            <a:br/>
            <a:r>
              <a:t>   Approve, reject, or override. Original result preserved. Audit logged.</a:t>
            </a:r>
            <a:br/>
            <a:br/>
            <a:r>
              <a:t>4. ANALYZE — Dashboard metrics, charts, and three findings from actual data.</a:t>
            </a:r>
            <a:br/>
            <a:r>
              <a:t>   Each finding links to conversation IDs and transcript evidence excerpts.</a:t>
            </a:r>
            <a:br/>
            <a:br/>
            <a:r>
              <a:t>5. EXPORT — CSV, JSON, routing review, findings + manifest with SHA-256.</a:t>
            </a:r>
            <a:br/>
            <a:r>
              <a:t>   Bundled in a ZIP. Manifest records filters, checksums, counts, version.</a:t>
            </a:r>
            <a:br/>
            <a:br/>
            <a:r>
              <a:t>Architecture: app.py (Streamlit) → database.py (SQLite) → routing.py (engine)</a:t>
            </a:r>
            <a:br/>
            <a:r>
              <a:t>→ imports.py (dedup) → analytics.py (metrics/findings) → exports.py (ZIP)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defRPr sz="2800" b="1">
                <a:solidFill>
                  <a:srgbClr val="FFFFFF"/>
                </a:solidFill>
              </a:defRPr>
            </a:pPr>
            <a:r>
              <a:t>Three Evidence-Linked Findings</a:t>
            </a:r>
          </a:p>
        </p:txBody>
      </p:sp>
      <p:sp>
        <p:nvSpPr>
          <p:cNvPr id="4" name="TextBox 3"/>
          <p:cNvSpPr txBox="1"/>
          <p:nvPr/>
        </p:nvSpPr>
        <p:spPr>
          <a:xfrm>
            <a:off x="457200" y="1005840"/>
            <a:ext cx="10972800" cy="365760"/>
          </a:xfrm>
          <a:prstGeom prst="rect">
            <a:avLst/>
          </a:prstGeom>
          <a:noFill/>
        </p:spPr>
        <p:txBody>
          <a:bodyPr wrap="none">
            <a:spAutoFit/>
          </a:bodyPr>
          <a:lstStyle/>
          <a:p>
            <a:pPr>
              <a:defRPr sz="1600">
                <a:solidFill>
                  <a:srgbClr val="6C757D"/>
                </a:solidFill>
              </a:defRPr>
            </a:pPr>
            <a:r>
              <a:t>Generated from actual loaded records (synthetic data)</a:t>
            </a:r>
          </a:p>
        </p:txBody>
      </p:sp>
      <p:sp>
        <p:nvSpPr>
          <p:cNvPr id="5" name="TextBox 4"/>
          <p:cNvSpPr txBox="1"/>
          <p:nvPr/>
        </p:nvSpPr>
        <p:spPr>
          <a:xfrm>
            <a:off x="457200" y="1645920"/>
            <a:ext cx="11247120" cy="1463040"/>
          </a:xfrm>
          <a:prstGeom prst="rect">
            <a:avLst/>
          </a:prstGeom>
          <a:noFill/>
        </p:spPr>
        <p:txBody>
          <a:bodyPr wrap="square">
            <a:spAutoFit/>
          </a:bodyPr>
          <a:lstStyle/>
          <a:p>
            <a:pPr>
              <a:defRPr sz="1300" b="1">
                <a:solidFill>
                  <a:srgbClr val="E63946"/>
                </a:solidFill>
              </a:defRPr>
            </a:pPr>
            <a:r>
              <a:t>Finding 1: 4 conversation(s) show competitor risk signals, representing $325,000 (12.0%) of total pipeline value.</a:t>
            </a:r>
          </a:p>
          <a:p>
            <a:pPr>
              <a:defRPr sz="1100">
                <a:solidFill>
                  <a:srgbClr val="333333"/>
                </a:solidFill>
              </a:defRPr>
            </a:pPr>
            <a:r>
              <a:t>Metric: Competitor-risk conversations: 4 / 32 total = 12.5%. Pipeline at risk: $325,000 of $2,700,000.</a:t>
            </a:r>
            <a:br/>
            <a:r>
              <a:t>Conversations: CONV-030, CONV-015, CONV-009, CONV-003</a:t>
            </a:r>
            <a:br/>
            <a:r>
              <a:t>Data source: synthetic</a:t>
            </a:r>
            <a:br/>
            <a:r>
              <a:t>Impact: At-risk pipeline of $325,000 could churn to competitors if not addressed with competitive differentiation and proactive engagement.</a:t>
            </a:r>
            <a:br/>
            <a:r>
              <a:t>Action: Escalate competitor-risk conversations to senior reps. Prepare competitive battle cards and schedule executive alignment calls within 48 hours.</a:t>
            </a:r>
          </a:p>
        </p:txBody>
      </p:sp>
      <p:sp>
        <p:nvSpPr>
          <p:cNvPr id="6" name="TextBox 5"/>
          <p:cNvSpPr txBox="1"/>
          <p:nvPr/>
        </p:nvSpPr>
        <p:spPr>
          <a:xfrm>
            <a:off x="457200" y="3200400"/>
            <a:ext cx="11247120" cy="1463040"/>
          </a:xfrm>
          <a:prstGeom prst="rect">
            <a:avLst/>
          </a:prstGeom>
          <a:noFill/>
        </p:spPr>
        <p:txBody>
          <a:bodyPr wrap="square">
            <a:spAutoFit/>
          </a:bodyPr>
          <a:lstStyle/>
          <a:p>
            <a:pPr>
              <a:defRPr sz="1300" b="1">
                <a:solidFill>
                  <a:srgbClr val="E63946"/>
                </a:solidFill>
              </a:defRPr>
            </a:pPr>
            <a:r>
              <a:t>Finding 2: 7 high-intent sales conversations are in the pipeline with a combined value of $975,000 (average deal size: $139,286). 7</a:t>
            </a:r>
          </a:p>
          <a:p>
            <a:pPr>
              <a:defRPr sz="1100">
                <a:solidFill>
                  <a:srgbClr val="333333"/>
                </a:solidFill>
              </a:defRPr>
            </a:pPr>
            <a:r>
              <a:t>Metric: High-intent conversations: 7 / 32 total = 21.9%. Combined pipeline value: $975,000. Open and requiring action: 7.</a:t>
            </a:r>
            <a:br/>
            <a:r>
              <a:t>Conversations: CONV-032, CONV-028, CONV-025, CONV-019, CONV-013</a:t>
            </a:r>
            <a:br/>
            <a:r>
              <a:t>Data source: synthetic</a:t>
            </a:r>
            <a:br/>
            <a:r>
              <a:t>Impact: $975,000 in high-intent pipeline represents the highest-value near-term revenue opportunity. Delays in contract delivery risk losing these deals.</a:t>
            </a:r>
            <a:br/>
            <a:r>
              <a:t>Action: Prioritize contract preparation for all high-intent conversations. Set a 24-hour SLA for contract delivery and schedule closing calls.</a:t>
            </a:r>
          </a:p>
        </p:txBody>
      </p:sp>
      <p:sp>
        <p:nvSpPr>
          <p:cNvPr id="7" name="TextBox 6"/>
          <p:cNvSpPr txBox="1"/>
          <p:nvPr/>
        </p:nvSpPr>
        <p:spPr>
          <a:xfrm>
            <a:off x="457200" y="4754880"/>
            <a:ext cx="11247120" cy="1463040"/>
          </a:xfrm>
          <a:prstGeom prst="rect">
            <a:avLst/>
          </a:prstGeom>
          <a:noFill/>
        </p:spPr>
        <p:txBody>
          <a:bodyPr wrap="square">
            <a:spAutoFit/>
          </a:bodyPr>
          <a:lstStyle/>
          <a:p>
            <a:pPr>
              <a:defRPr sz="1300" b="1">
                <a:solidFill>
                  <a:srgbClr val="E63946"/>
                </a:solidFill>
              </a:defRPr>
            </a:pPr>
            <a:r>
              <a:t>Finding 3: 5 conversation(s) flagged as customer support issues, with 10 total negative-sentiment interactions (31.2% of all conver</a:t>
            </a:r>
          </a:p>
          <a:p>
            <a:pPr>
              <a:defRPr sz="1100">
                <a:solidFill>
                  <a:srgbClr val="333333"/>
                </a:solidFill>
              </a:defRPr>
            </a:pPr>
            <a:r>
              <a:t>Metric: Support-issue conversations: 5. Negative-sentiment conversations: 10 / 32 = 31.2%. Combined at-risk accounts: 10.</a:t>
            </a:r>
            <a:br/>
            <a:r>
              <a:t>Conversations: CONV-031, CONV-026, CONV-016, CONV-010, CONV-004</a:t>
            </a:r>
            <a:br/>
            <a:r>
              <a:t>Data source: synthetic</a:t>
            </a:r>
            <a:br/>
            <a:r>
              <a:t>Impact: 10 account(s) with support or dissatisfaction signals are at risk of churn. Negative sentiment trends can signal broader product issues that impact re</a:t>
            </a:r>
            <a:br/>
            <a:r>
              <a:t>Action: Route all support issues to the customer success team with a 4-hour acknowledgment SLA. Conduct a root-cause analysis on recurring issues and share 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defRPr sz="2800" b="1">
                <a:solidFill>
                  <a:srgbClr val="FFFFFF"/>
                </a:solidFill>
              </a:defRPr>
            </a:pPr>
            <a:r>
              <a:t>Routing Decision and Rejected Alternative</a:t>
            </a:r>
          </a:p>
        </p:txBody>
      </p:sp>
      <p:sp>
        <p:nvSpPr>
          <p:cNvPr id="4" name="TextBox 3"/>
          <p:cNvSpPr txBox="1"/>
          <p:nvPr/>
        </p:nvSpPr>
        <p:spPr>
          <a:xfrm>
            <a:off x="457200" y="1005840"/>
            <a:ext cx="10972800" cy="365760"/>
          </a:xfrm>
          <a:prstGeom prst="rect">
            <a:avLst/>
          </a:prstGeom>
          <a:noFill/>
        </p:spPr>
        <p:txBody>
          <a:bodyPr wrap="none">
            <a:spAutoFit/>
          </a:bodyPr>
          <a:lstStyle/>
          <a:p>
            <a:pPr>
              <a:defRPr sz="1600">
                <a:solidFill>
                  <a:srgbClr val="6C757D"/>
                </a:solidFill>
              </a:defRPr>
            </a:pPr>
            <a:r>
              <a:t>Why context-aware routing beats keyword matching</a:t>
            </a:r>
          </a:p>
        </p:txBody>
      </p:sp>
      <p:sp>
        <p:nvSpPr>
          <p:cNvPr id="5" name="TextBox 4"/>
          <p:cNvSpPr txBox="1"/>
          <p:nvPr/>
        </p:nvSpPr>
        <p:spPr>
          <a:xfrm>
            <a:off x="457200" y="1645920"/>
            <a:ext cx="10972800" cy="1828800"/>
          </a:xfrm>
          <a:prstGeom prst="rect">
            <a:avLst/>
          </a:prstGeom>
          <a:noFill/>
        </p:spPr>
        <p:txBody>
          <a:bodyPr wrap="square">
            <a:spAutoFit/>
          </a:bodyPr>
          <a:lstStyle/>
          <a:p>
            <a:pPr>
              <a:defRPr sz="1500" b="1">
                <a:solidFill>
                  <a:srgbClr val="E63946"/>
                </a:solidFill>
              </a:defRPr>
            </a:pPr>
            <a:r>
              <a:t>Rejected: Keyword-Only Routing</a:t>
            </a:r>
          </a:p>
          <a:p>
            <a:pPr>
              <a:defRPr sz="1300">
                <a:solidFill>
                  <a:srgbClr val="333333"/>
                </a:solidFill>
              </a:defRPr>
            </a:pPr>
            <a:r>
              <a:t>A word such as 'competitor' can appear in a positive or negative context. For example, 'we chose you over the competitor' is positive, while 'we're switching to a competitor' is negative. Keyword-only routing cannot distinguish these meanings and would misclassify conversations. Similarly, 'not interested in pricing right now' would be wrongly routed as a pricing request.</a:t>
            </a:r>
            <a:br/>
            <a:br/>
            <a:r>
              <a:t>Trade-off: The context-aware approach is more complex to implement and slightly slower than keyword matching. However, it produces significantly more accurate and explainable routing decisions, reduces false positives, and handles edge cases gracefully.</a:t>
            </a:r>
            <a:br/>
            <a:r>
              <a:t>Benefit: Higher routing accuracy, fewer misclassified conversations, transparent evidence excerpts for each decision, and automatic flagging of ambiguous cases that need human judgment rather than silent misclassification.</a:t>
            </a:r>
          </a:p>
        </p:txBody>
      </p:sp>
      <p:sp>
        <p:nvSpPr>
          <p:cNvPr id="6" name="TextBox 5"/>
          <p:cNvSpPr txBox="1"/>
          <p:nvPr/>
        </p:nvSpPr>
        <p:spPr>
          <a:xfrm>
            <a:off x="457200" y="3840480"/>
            <a:ext cx="10972800" cy="2743200"/>
          </a:xfrm>
          <a:prstGeom prst="rect">
            <a:avLst/>
          </a:prstGeom>
          <a:noFill/>
        </p:spPr>
        <p:txBody>
          <a:bodyPr wrap="square">
            <a:spAutoFit/>
          </a:bodyPr>
          <a:lstStyle/>
          <a:p>
            <a:pPr>
              <a:defRPr sz="1500" b="1">
                <a:solidFill>
                  <a:srgbClr val="E63946"/>
                </a:solidFill>
              </a:defRPr>
            </a:pPr>
            <a:r>
              <a:t>Difficult Case: Ambiguous Conversation</a:t>
            </a:r>
          </a:p>
          <a:p>
            <a:pPr>
              <a:defRPr sz="1300">
                <a:solidFill>
                  <a:srgbClr val="333333"/>
                </a:solidFill>
              </a:defRPr>
            </a:pPr>
            <a:r>
              <a:t>Example: A customer says 'We want to proceed with the full platform. Leadership approved the budget. Let's do this. But we're also comparing with SAP Concur. We're ready to sign up but might switch to another vendor.'</a:t>
            </a:r>
            <a:br/>
            <a:br/>
            <a:r>
              <a:t>The engine detects both high-intent signals (3) and competitor signals (3). Rather than forcing a potentially wrong classification, it flags the conversation for human review with Low confidence. The manager reviews the evidence and manually overrides to the correct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defRPr sz="2800" b="1">
                <a:solidFill>
                  <a:srgbClr val="FFFFFF"/>
                </a:solidFill>
              </a:defRPr>
            </a:pPr>
            <a:r>
              <a:t>Test Results, Export Integrity, and Deployment</a:t>
            </a:r>
          </a:p>
        </p:txBody>
      </p:sp>
      <p:sp>
        <p:nvSpPr>
          <p:cNvPr id="4" name="TextBox 3"/>
          <p:cNvSpPr txBox="1"/>
          <p:nvPr/>
        </p:nvSpPr>
        <p:spPr>
          <a:xfrm>
            <a:off x="457200" y="1005840"/>
            <a:ext cx="10972800" cy="365760"/>
          </a:xfrm>
          <a:prstGeom prst="rect">
            <a:avLst/>
          </a:prstGeom>
          <a:noFill/>
        </p:spPr>
        <p:txBody>
          <a:bodyPr wrap="none">
            <a:spAutoFit/>
          </a:bodyPr>
          <a:lstStyle/>
          <a:p>
            <a:pPr>
              <a:defRPr sz="1600">
                <a:solidFill>
                  <a:srgbClr val="6C757D"/>
                </a:solidFill>
              </a:defRPr>
            </a:pPr>
            <a:r>
              <a:t>Duplicate/update tests, checksums, and deployment readiness</a:t>
            </a:r>
          </a:p>
        </p:txBody>
      </p:sp>
      <p:sp>
        <p:nvSpPr>
          <p:cNvPr id="5" name="TextBox 4"/>
          <p:cNvSpPr txBox="1"/>
          <p:nvPr/>
        </p:nvSpPr>
        <p:spPr>
          <a:xfrm>
            <a:off x="457200" y="1645920"/>
            <a:ext cx="11247120" cy="5029200"/>
          </a:xfrm>
          <a:prstGeom prst="rect">
            <a:avLst/>
          </a:prstGeom>
          <a:noFill/>
        </p:spPr>
        <p:txBody>
          <a:bodyPr wrap="square">
            <a:spAutoFit/>
          </a:bodyPr>
          <a:lstStyle/>
          <a:p>
            <a:pPr>
              <a:defRPr sz="1400" b="1">
                <a:solidFill>
                  <a:srgbClr val="E63946"/>
                </a:solidFill>
              </a:defRPr>
            </a:pPr>
            <a:r>
              <a:t>Results Summary</a:t>
            </a:r>
          </a:p>
          <a:p>
            <a:pPr>
              <a:defRPr sz="1200">
                <a:solidFill>
                  <a:srgbClr val="333333"/>
                </a:solidFill>
              </a:defRPr>
            </a:pPr>
            <a:r>
              <a:t>Duplicate/Update Test Results:</a:t>
            </a:r>
            <a:br/>
            <a:r>
              <a:t>  Step 1 (first import): inserted=1 ✅</a:t>
            </a:r>
            <a:br/>
            <a:r>
              <a:t>  Step 2 (re-import identical): unchanged=1 ✅</a:t>
            </a:r>
            <a:br/>
            <a:r>
              <a:t>  Step 3 (modified re-import): updated=1 ✅</a:t>
            </a:r>
            <a:br/>
            <a:r>
              <a:t>  Record count stayed same: Yes ✅</a:t>
            </a:r>
            <a:br/>
            <a:br/>
            <a:r>
              <a:t>Export Integrity:</a:t>
            </a:r>
            <a:br/>
            <a:r>
              <a:t>  ZIP contains: conversations.csv, conversations.json, routing_review.csv,</a:t>
            </a:r>
            <a:br/>
            <a:r>
              <a:t>                findings.json, manifest.json</a:t>
            </a:r>
            <a:br/>
            <a:r>
              <a:t>  Manifest includes: UTC timestamp, record counts, applied filters,</a:t>
            </a:r>
            <a:br/>
            <a:r>
              <a:t>                     SHA-256 checksums (from actual file bytes), app version,</a:t>
            </a:r>
            <a:br/>
            <a:r>
              <a:t>                     dataset type (synthetic or user-provided)</a:t>
            </a:r>
            <a:br/>
            <a:r>
              <a:t>  Tests verify checksums match exported file bytes ✅</a:t>
            </a:r>
            <a:br/>
            <a:br/>
            <a:r>
              <a:t>Deployment:</a:t>
            </a:r>
            <a:br/>
            <a:r>
              <a:t>  Ready for Streamlit Community Cloud deployment.</a:t>
            </a:r>
            <a:br/>
            <a:r>
              <a:t>  Run: streamlit run app.py</a:t>
            </a:r>
            <a:br/>
            <a:r>
              <a:t>  Deploy: Push to GitHub → connect at share.streamlit.io → set main file to app.py</a:t>
            </a:r>
            <a:br/>
            <a:r>
              <a:t>  Limitation: Local SQLite may not persist across cloud restarts.</a:t>
            </a:r>
            <a:br/>
            <a:r>
              <a:t>  Sample data reloads automatically on cold start.</a:t>
            </a:r>
            <a:br/>
            <a:r>
              <a:t>  No invented deployment URLs — verify after actual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